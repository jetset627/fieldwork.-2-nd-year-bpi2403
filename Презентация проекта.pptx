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3" r:id="rId14"/>
    <p:sldId id="264" r:id="rId15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9DB8F0"/>
                </a:solidFill>
                <a:latin typeface="Segoe UI"/>
              </a:rPr>
              <a:t>🔎  БАЗА ЗНАНИЙ УНИВЕРСИТЕТА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6070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Интеллектуальная поисковая система по внутренней базе знаний</a:t>
            </a:r>
          </a:p>
          <a:p>
            <a:pPr algn="l">
              <a:spcAft>
                <a:spcPts val="600"/>
              </a:spcAft>
            </a:pPr>
            <a:r>
              <a:rPr sz="1900" b="0" i="0">
                <a:solidFill>
                  <a:srgbClr val="C7CEDC"/>
                </a:solidFill>
                <a:latin typeface="Segoe UI"/>
              </a:rPr>
              <a:t>Полнотекстовый поиск по документам PDF и DOCX на базе Elasticsearch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029200"/>
            <a:ext cx="5120640" cy="2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Учебная практика (технологическая)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</a:rPr>
              <a:t>09.03.04 «Программная инженерия» · группа БПИ24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</a:rPr>
              <a:t>МТУСИ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0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FD3FF"/>
                </a:solidFill>
                <a:latin typeface="Segoe UI"/>
              </a:rPr>
              <a:t>О ПРОЕКТЕ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Цель и функциональность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</a:rPr>
              <a:t>Веб-приложение для поиска по внутренней базе знаний университета: загрузка документов, их индексация и быстрый полнотекстовый поиск с подсветкой найденных фрагментов.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108813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Загрузка PDF и DOCX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drag-and-drop, множественная загрузка, до 20 МБ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Извлечение текста и индексация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автоматический разбор и сохранение в поисковый индекс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Полнотекстовый поиск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ранжирование по релевантности, подсветка совпадений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История и кеширование запросов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сохранение истории, кеш повторных запросов</a:t>
            </a:r>
          </a:p>
          <a:p>
            <a:pPr>
              <a:spcAft>
                <a:spcPts val="15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Контейнеризация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запуск всего стека одной командой (Docker Compose)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0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FD3FF"/>
                </a:solidFill>
                <a:latin typeface="Segoe UI"/>
              </a:rPr>
              <a:t>ИНФРАСТРУКТУРА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DevOps: сборка, запуск, мониторинг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Контейнеризация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Dockerfile для бэкенда (FastAPI) и фронтенда (Nginx)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Оркестрация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docker-compose.yml — весь стек одной командой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CI/CD (GitHub Actions)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линтеры → тесты → автоматическая сборка образов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Управление конфигурацией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секреты через .env, шаблон .env.example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Мониторинг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Prometheus (метрики /search, время ответа) + Grafana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800" b="1" i="0">
                <a:solidFill>
                  <a:srgbClr val="1F2430"/>
                </a:solidFill>
                <a:latin typeface="Segoe UI"/>
              </a:rPr>
              <a:t>Автоматизация данных</a:t>
            </a:r>
            <a:r>
              <a:rPr sz="1700" b="0" i="0">
                <a:solidFill>
                  <a:srgbClr val="6B7280"/>
                </a:solidFill>
                <a:latin typeface="Segoe UI"/>
              </a:rPr>
              <a:t>  —  init.sh — загрузка 10 тестовых документов через API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0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FD3FF"/>
                </a:solidFill>
                <a:latin typeface="Segoe UI"/>
              </a:rPr>
              <a:t>КАЧЕСТВО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Тестирование и качество кода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2606040" cy="13716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 i="0">
                <a:solidFill>
                  <a:srgbClr val="2563EB"/>
                </a:solidFill>
                <a:latin typeface="Segoe UI"/>
              </a:rPr>
              <a:t>~80%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Segoe UI"/>
              </a:rPr>
              <a:t>покрытие кода  (норма 50%)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1737360"/>
            <a:ext cx="2606040" cy="13716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 i="0">
                <a:solidFill>
                  <a:srgbClr val="2563EB"/>
                </a:solidFill>
                <a:latin typeface="Segoe UI"/>
              </a:rPr>
              <a:t>115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Segoe UI"/>
              </a:rPr>
              <a:t>юнит-тестов  pytest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2784" y="1737360"/>
            <a:ext cx="2606040" cy="13716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 i="0">
                <a:solidFill>
                  <a:srgbClr val="2563EB"/>
                </a:solidFill>
                <a:latin typeface="Segoe UI"/>
              </a:rPr>
              <a:t>50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Segoe UI"/>
              </a:rPr>
              <a:t>польз. в нагрузке  Locust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89136" y="1737360"/>
            <a:ext cx="2606040" cy="1371600"/>
          </a:xfrm>
          <a:prstGeom prst="roundRect">
            <a:avLst/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400" b="1" i="0">
                <a:solidFill>
                  <a:srgbClr val="2563EB"/>
                </a:solidFill>
                <a:latin typeface="Segoe UI"/>
              </a:rPr>
              <a:t>P@3</a:t>
            </a:r>
          </a:p>
          <a:p>
            <a:pPr algn="ctr"/>
            <a:r>
              <a:rPr sz="1200" b="0" i="0">
                <a:solidFill>
                  <a:srgbClr val="6B7280"/>
                </a:solidFill>
                <a:latin typeface="Segoe UI"/>
              </a:rPr>
              <a:t>оценка качества  поиска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8813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300"/>
              </a:spcAft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F2430"/>
                </a:solidFill>
                <a:latin typeface="Segoe UI"/>
              </a:rPr>
              <a:t>Юнит-тесты (pytest)</a:t>
            </a:r>
            <a:r>
              <a:rPr sz="1600" b="0" i="0">
                <a:solidFill>
                  <a:srgbClr val="6B7280"/>
                </a:solidFill>
                <a:latin typeface="Segoe UI"/>
              </a:rPr>
              <a:t>  —  парсинг документов, валидация, сервисы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F2430"/>
                </a:solidFill>
                <a:latin typeface="Segoe UI"/>
              </a:rPr>
              <a:t>E2E-тесты (Playwright)</a:t>
            </a:r>
            <a:r>
              <a:rPr sz="1600" b="0" i="0">
                <a:solidFill>
                  <a:srgbClr val="6B7280"/>
                </a:solidFill>
                <a:latin typeface="Segoe UI"/>
              </a:rPr>
              <a:t>  —  сценарий: загрузка → индексация → поиск → результаты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F2430"/>
                </a:solidFill>
                <a:latin typeface="Segoe UI"/>
              </a:rPr>
              <a:t>Нагрузочные тесты (Locust)</a:t>
            </a:r>
            <a:r>
              <a:rPr sz="1600" b="0" i="0">
                <a:solidFill>
                  <a:srgbClr val="6B7280"/>
                </a:solidFill>
                <a:latin typeface="Segoe UI"/>
              </a:rPr>
              <a:t>  —  50 одновременных пользователей, отчёт о времени отклика</a:t>
            </a:r>
          </a:p>
          <a:p>
            <a:pPr>
              <a:spcAft>
                <a:spcPts val="1300"/>
              </a:spcAft>
            </a:pPr>
            <a:r>
              <a:rPr sz="17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700" b="1" i="0">
                <a:solidFill>
                  <a:srgbClr val="1F2430"/>
                </a:solidFill>
                <a:latin typeface="Segoe UI"/>
              </a:rPr>
              <a:t>Качество кода</a:t>
            </a:r>
            <a:r>
              <a:rPr sz="1600" b="0" i="0">
                <a:solidFill>
                  <a:srgbClr val="6B7280"/>
                </a:solidFill>
                <a:latin typeface="Segoe UI"/>
              </a:rPr>
              <a:t>  —  PEP 8 / ruff / eslint, docstrings, документация OpenAPI (Swagger)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4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9DB8F0"/>
                </a:solidFill>
                <a:latin typeface="Segoe UI"/>
              </a:rPr>
              <a:t>ИТОГИ</a:t>
            </a:r>
          </a:p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Segoe UI"/>
              </a:rPr>
              <a:t>Результаты работы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9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900" b="1" i="0">
                <a:solidFill>
                  <a:srgbClr val="FFFFFF"/>
                </a:solidFill>
                <a:latin typeface="Segoe UI"/>
              </a:rPr>
              <a:t>Выполнены все требования</a:t>
            </a:r>
            <a:r>
              <a:rPr sz="1500" b="0" i="0">
                <a:solidFill>
                  <a:srgbClr val="B4BDCC"/>
                </a:solidFill>
                <a:latin typeface="Segoe UI"/>
              </a:rPr>
              <a:t>  —  BE-01…10 · FE-01…09 · DO-01…07 · QA-01…06</a:t>
            </a:r>
          </a:p>
          <a:p>
            <a:pPr>
              <a:spcAft>
                <a:spcPts val="1500"/>
              </a:spcAft>
            </a:pPr>
            <a:r>
              <a:rPr sz="19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900" b="1" i="0">
                <a:solidFill>
                  <a:srgbClr val="FFFFFF"/>
                </a:solidFill>
                <a:latin typeface="Segoe UI"/>
              </a:rPr>
              <a:t>Рабочее веб-приложение</a:t>
            </a:r>
            <a:r>
              <a:rPr sz="1500" b="0" i="0">
                <a:solidFill>
                  <a:srgbClr val="B4BDCC"/>
                </a:solidFill>
                <a:latin typeface="Segoe UI"/>
              </a:rPr>
              <a:t>  —  загрузка, полнотекстовый поиск, подсветка, история</a:t>
            </a:r>
          </a:p>
          <a:p>
            <a:pPr>
              <a:spcAft>
                <a:spcPts val="1500"/>
              </a:spcAft>
            </a:pPr>
            <a:r>
              <a:rPr sz="19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900" b="1" i="0">
                <a:solidFill>
                  <a:srgbClr val="FFFFFF"/>
                </a:solidFill>
                <a:latin typeface="Segoe UI"/>
              </a:rPr>
              <a:t>Полная инфраструктура</a:t>
            </a:r>
            <a:r>
              <a:rPr sz="1500" b="0" i="0">
                <a:solidFill>
                  <a:srgbClr val="B4BDCC"/>
                </a:solidFill>
                <a:latin typeface="Segoe UI"/>
              </a:rPr>
              <a:t>  —  Docker, CI/CD, мониторинг, запуск одной командой</a:t>
            </a:r>
          </a:p>
          <a:p>
            <a:pPr>
              <a:spcAft>
                <a:spcPts val="1500"/>
              </a:spcAft>
            </a:pPr>
            <a:r>
              <a:rPr sz="1900" b="1" i="0">
                <a:solidFill>
                  <a:srgbClr val="2563EB"/>
                </a:solidFill>
                <a:latin typeface="Segoe UI"/>
              </a:rPr>
              <a:t>▸  </a:t>
            </a:r>
            <a:r>
              <a:rPr sz="1900" b="1" i="0">
                <a:solidFill>
                  <a:srgbClr val="FFFFFF"/>
                </a:solidFill>
                <a:latin typeface="Segoe UI"/>
              </a:rPr>
              <a:t>Документация</a:t>
            </a:r>
            <a:r>
              <a:rPr sz="1500" b="0" i="0">
                <a:solidFill>
                  <a:srgbClr val="B4BDCC"/>
                </a:solidFill>
                <a:latin typeface="Segoe UI"/>
              </a:rPr>
              <a:t>  —  README, руководство пользователя, Swagger UI (/docs)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5394960"/>
            <a:ext cx="10515600" cy="2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Запуск:  docker compose up   →   http://localhost:3000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6B7280"/>
                </a:solidFill>
                <a:latin typeface="Segoe UI"/>
              </a:rPr>
              <a:t>API и документация:  http://localhost:8000/docs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0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FD3FF"/>
                </a:solidFill>
                <a:latin typeface="Segoe UI"/>
              </a:rPr>
              <a:t>СЕРВЕРНАЯ ЧАСТЬ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Backend: API, индексация, поиск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REST API (FastAPI)  —  загрузка, поиск, история; документация OpenAPI / Swagger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Валидация файлов  —  формат PDF/DOCX и размер до 20 МБ, генерация UUID документа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Извлечение и чанкинг  —  pdfplumber / python-docx, сегменты по 1000 символов (перекрытие 100)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Elasticsearch  —  русскоязычный анализатор, индекс documents, поиск multi_match по релевантности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Кеширование (Redis)  —  повторные запросы из кеша, TTL 5 минут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Хранение (PostgreSQL)  —  метаданные документов и история поисковых запросов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91695" cy="50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56032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BFD3FF"/>
                </a:solidFill>
                <a:latin typeface="Segoe UI"/>
              </a:rPr>
              <a:t>ИНТЕРФЕЙС</a:t>
            </a:r>
          </a:p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Frontend: клиентская часть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Загрузка (Drag-and-Drop)  —  множественная загрузка, прогресс и статусы каждого файла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Список документов  —  название, дата загрузки, статус индексации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Поиск  —  поле ввода с кнопкой «Найти» и запуском по клавише Enter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Карточки результатов  —  имя файла, номер страницы, фрагмент, оценка релевантности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Подсветка совпадений  —  выделение найденных слов жёлтым фоном</a:t>
            </a:r>
          </a:p>
          <a:p>
            <a:pPr>
              <a:spcAft>
                <a:spcPts val="1400"/>
              </a:spcAft>
            </a:pPr>
            <a:r>
              <a:rPr sz="1800" b="1" i="0">
                <a:solidFill>
                  <a:srgbClr val="2563EB"/>
                </a:solidFill>
                <a:latin typeface="Segoe UI"/>
              </a:rPr>
              <a:t>▸  Пагинация и адаптив  —  по 10 результатов, экраны 320–1920px; React + TypeScript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