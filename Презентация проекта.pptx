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DB8F0"/>
                </a:solidFill>
                <a:latin typeface="Segoe UI"/>
              </a:rPr>
              <a:t>🔎  БАЗА ЗНАНИЙ УНИВЕРСИТЕТА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Интеллектуальная поисковая система по внутренней базе знаний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C7CEDC"/>
                </a:solidFill>
                <a:latin typeface="Segoe UI"/>
              </a:rPr>
              <a:t>Полнотекстовый поиск по документам PDF и DOCX на базе Elasticsearch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29200"/>
            <a:ext cx="512064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Учебная практика (технологическая)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09.03.04 «Программная инженерия» · группа БПИ24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МТУСИ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О ПРОЕКТЕ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Цель и функциональность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</a:rPr>
              <a:t>Веб-приложение для поиска по внутренней базе знаний университета: загрузка документов, их индексация и быстрый полнотекстовый поиск с подсветкой найденных фрагментов.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8813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Загрузка PDF и DOCX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drag-and-drop, множественная загрузка, до 20 МБ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Извлечение текста и индексация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автоматический разбор и сохранение в поисковый индекс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Полнотекстовый поиск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ранжирование по релевантности, подсветка совпадений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История и кеширование запросов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сохранение истории, кеш повторных запросов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Контейнеризация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запуск всего стека одной командой (Docker Compose)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РЕШЕНИЕ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Архитектура и технологии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468880" cy="10515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Frontend</a:t>
            </a:r>
          </a:p>
          <a:p>
            <a:pPr algn="ctr"/>
            <a:r>
              <a:rPr sz="1050" b="0" i="0">
                <a:solidFill>
                  <a:srgbClr val="E0E7FF"/>
                </a:solidFill>
                <a:latin typeface="Segoe UI"/>
              </a:rPr>
              <a:t>React + TS · Nginx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965960"/>
            <a:ext cx="2468880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Backend API</a:t>
            </a:r>
          </a:p>
          <a:p>
            <a:pPr algn="ctr"/>
            <a:r>
              <a:rPr sz="1050" b="0" i="0">
                <a:solidFill>
                  <a:srgbClr val="E0E7FF"/>
                </a:solidFill>
                <a:latin typeface="Segoe UI"/>
              </a:rPr>
              <a:t>FastAPI (Python)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65960"/>
            <a:ext cx="5029200" cy="658368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F2430"/>
                </a:solidFill>
                <a:latin typeface="Segoe UI"/>
              </a:rPr>
              <a:t>PostgreSQL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метаданные, история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88920"/>
            <a:ext cx="5029200" cy="658368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F2430"/>
                </a:solidFill>
                <a:latin typeface="Segoe UI"/>
              </a:rPr>
              <a:t>Elasticsearch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полнотекстовый поиск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611880"/>
            <a:ext cx="5029200" cy="658368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F2430"/>
                </a:solidFill>
                <a:latin typeface="Segoe UI"/>
              </a:rPr>
              <a:t>Redis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Segoe UI"/>
              </a:rPr>
              <a:t>кеш запросов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2404872"/>
            <a:ext cx="402336" cy="164592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053328" y="2404872"/>
            <a:ext cx="402336" cy="164592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3429000"/>
            <a:ext cx="2468880" cy="73152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Prometheus + Grafana</a:t>
            </a:r>
          </a:p>
          <a:p>
            <a:pPr algn="ctr"/>
            <a:r>
              <a:rPr sz="1050" b="0" i="0">
                <a:solidFill>
                  <a:srgbClr val="E0E7FF"/>
                </a:solidFill>
                <a:latin typeface="Segoe UI"/>
              </a:rPr>
              <a:t>мониторинг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72000"/>
            <a:ext cx="10881360" cy="19050"/>
          </a:xfrm>
          <a:prstGeom prst="rect">
            <a:avLst/>
          </a:prstGeom>
          <a:solidFill>
            <a:srgbClr val="E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ТЕХНОЛОГИЧЕСКИЙ СТЕК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1F2430"/>
                </a:solidFill>
                <a:latin typeface="Segoe UI"/>
              </a:rPr>
              <a:t>Python · FastAPI · PostgreSQL · Elasticsearch · Redis · TypeScript · React · Vite · Nginx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430"/>
                </a:solidFill>
                <a:latin typeface="Segoe UI"/>
              </a:rPr>
              <a:t>Docker · Docker Compose · GitHub Actions · Prometheus · Grafana · pytest · Playwright · Locust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ПРИНЦИП РАБОТЫ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Как устроен поиск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1. Загрузка и валидация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проверка формата и размера, генерация UUID документа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2. Извлечение текста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pdfplumber (PDF) и python-docx (DOCX)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3. Разбиение на чанки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сегменты по 1000 символов с перекрытием 100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4. Индексация в Elasticsearch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русскоязычный анализатор, метаданные чанков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5. Поиск multi_match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ранжирование результатов по релевантности (score)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6. Выдача результатов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подсветка совпадений, пагинация, кеш (TTL 5 мин)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ИНФРАСТРУКТУРА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DevOps: сборка, запуск, мониторинг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Контейнеризация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Dockerfile для бэкенда (FastAPI) и фронтенда (Nginx)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Оркестрация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docker-compose.yml — весь стек одной командой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CI/CD (GitHub Actions)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линтеры → тесты → автоматическая сборка образов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Управление конфигурацией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секреты через .env, шаблон .env.example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Мониторинг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Prometheus (метрики /search, время ответа) + Grafana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Автоматизация данных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init.sh — загрузка 10 тестовых документов через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КАЧЕСТВО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Тестирование и качество кода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06040" cy="13716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i="0">
                <a:solidFill>
                  <a:srgbClr val="2563EB"/>
                </a:solidFill>
                <a:latin typeface="Segoe UI"/>
              </a:rPr>
              <a:t>~80%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покрытие кода  (норма 50%)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606040" cy="13716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i="0">
                <a:solidFill>
                  <a:srgbClr val="2563EB"/>
                </a:solidFill>
                <a:latin typeface="Segoe UI"/>
              </a:rPr>
              <a:t>115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юнит-тестов  pytest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2606040" cy="13716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i="0">
                <a:solidFill>
                  <a:srgbClr val="2563EB"/>
                </a:solidFill>
                <a:latin typeface="Segoe UI"/>
              </a:rPr>
              <a:t>50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польз. в нагрузке  Locust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89136" y="1737360"/>
            <a:ext cx="2606040" cy="13716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i="0">
                <a:solidFill>
                  <a:srgbClr val="2563EB"/>
                </a:solidFill>
                <a:latin typeface="Segoe UI"/>
              </a:rPr>
              <a:t>P@3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оценка качества  поиска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F2430"/>
                </a:solidFill>
                <a:latin typeface="Segoe UI"/>
              </a:rPr>
              <a:t>Юнит-тесты (pytest)</a:t>
            </a:r>
            <a:r>
              <a:rPr sz="1600" b="0" i="0">
                <a:solidFill>
                  <a:srgbClr val="6B7280"/>
                </a:solidFill>
                <a:latin typeface="Segoe UI"/>
              </a:rPr>
              <a:t>  —  парсинг документов, валидация, сервисы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F2430"/>
                </a:solidFill>
                <a:latin typeface="Segoe UI"/>
              </a:rPr>
              <a:t>E2E-тесты (Playwright)</a:t>
            </a:r>
            <a:r>
              <a:rPr sz="1600" b="0" i="0">
                <a:solidFill>
                  <a:srgbClr val="6B7280"/>
                </a:solidFill>
                <a:latin typeface="Segoe UI"/>
              </a:rPr>
              <a:t>  —  сценарий: загрузка → индексация → поиск → результаты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F2430"/>
                </a:solidFill>
                <a:latin typeface="Segoe UI"/>
              </a:rPr>
              <a:t>Нагрузочные тесты (Locust)</a:t>
            </a:r>
            <a:r>
              <a:rPr sz="1600" b="0" i="0">
                <a:solidFill>
                  <a:srgbClr val="6B7280"/>
                </a:solidFill>
                <a:latin typeface="Segoe UI"/>
              </a:rPr>
              <a:t>  —  50 одновременных пользователей, отчёт о времени отклика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F2430"/>
                </a:solidFill>
                <a:latin typeface="Segoe UI"/>
              </a:rPr>
              <a:t>Качество кода</a:t>
            </a:r>
            <a:r>
              <a:rPr sz="1600" b="0" i="0">
                <a:solidFill>
                  <a:srgbClr val="6B7280"/>
                </a:solidFill>
                <a:latin typeface="Segoe UI"/>
              </a:rPr>
              <a:t>  —  PEP 8 / ruff / eslint, docstrings, документация OpenAPI (Swagger)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9DB8F0"/>
                </a:solidFill>
                <a:latin typeface="Segoe UI"/>
              </a:rPr>
              <a:t>ИТОГИ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Результаты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9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Выполнены все требования</a:t>
            </a:r>
            <a:r>
              <a:rPr sz="1500" b="0" i="0">
                <a:solidFill>
                  <a:srgbClr val="B4BDCC"/>
                </a:solidFill>
                <a:latin typeface="Segoe UI"/>
              </a:rPr>
              <a:t>  —  BE-01…10 · FE-01…09 · DO-01…07 · QA-01…06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Рабочее веб-приложение</a:t>
            </a:r>
            <a:r>
              <a:rPr sz="1500" b="0" i="0">
                <a:solidFill>
                  <a:srgbClr val="B4BDCC"/>
                </a:solidFill>
                <a:latin typeface="Segoe UI"/>
              </a:rPr>
              <a:t>  —  загрузка, полнотекстовый поиск, подсветка, история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Полная инфраструктура</a:t>
            </a:r>
            <a:r>
              <a:rPr sz="1500" b="0" i="0">
                <a:solidFill>
                  <a:srgbClr val="B4BDCC"/>
                </a:solidFill>
                <a:latin typeface="Segoe UI"/>
              </a:rPr>
              <a:t>  —  Docker, CI/CD, мониторинг, запуск одной командой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Документация</a:t>
            </a:r>
            <a:r>
              <a:rPr sz="1500" b="0" i="0">
                <a:solidFill>
                  <a:srgbClr val="B4BDCC"/>
                </a:solidFill>
                <a:latin typeface="Segoe UI"/>
              </a:rPr>
              <a:t>  —  README, руководство пользователя, Swagger UI (/docs)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Запуск:  docker compose up   →   http://localhost:3000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API и документация: 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